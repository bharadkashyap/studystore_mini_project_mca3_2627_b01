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377440"/>
            <a:ext cx="5669280" cy="56692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ln w="3810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5394960"/>
            <a:ext cx="1371600" cy="1371600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3246120"/>
            <a:ext cx="384048" cy="384048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37360" y="2788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StudyStore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520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19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Stationery Shopping System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51460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:-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Kashyap Bharad - 92500584001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Dhaval Parmar - 92500584066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Chirag Pandya - 92500584070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Guide: Dr. Jaypalsinh Gohil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6263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9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Computer Applications (MCA) — Marwadi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Project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17320"/>
            <a:ext cx="9692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StudyStore is a full-stack web application developed to provide an online platform for purchasing stationery products.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browse products, search items, add products to their wishlist or shopping cart, and place orders through a simple web interface.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administrator panel for managing products and customer orders.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the MERN Stack — React.js (Vite) for the frontend, Node.js and Express.js for the backend, and MongoDB Atlas for the database.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 used for user authentication, bcryptjs for password encryption, and Nodemailer for email-based password recovery.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to simplify the online purchase of stationery products through a dedicated, focused platform.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Preamble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17320"/>
            <a:ext cx="9692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online shopping websites sell stationery products along with several other categories, making it difficult for users to quickly find what they need.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for a dedicated stationery shopping platform focused solely on stationery products.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StudyStore allows customers to browse, search, and place orders in a simple and organized environment.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also provides administrators with a centralized platform to manage products and customer orders.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demonstrates the practical implementation of full-stack web development using the MERN Stack.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17320"/>
            <a:ext cx="9692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Module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Module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Module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Category Filter Module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Module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Module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 Module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Module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Recovery Module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716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Study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783080"/>
            <a:ext cx="9418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existing online shopping and stationery platforms.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their major features, product organization, and shopping workflows.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strengths and limitations of existing systems.</a:t>
            </a:r>
            <a:endParaRPr lang="en-US" sz="1450" dirty="0"/>
          </a:p>
          <a:p>
            <a:pPr marL="342900" indent="-342900"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findings as a reference for developing StudyStore as a focused, dedicated platform.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6576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Studied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406908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Flipkart, Meesho (general e-commerce)</a:t>
            </a:r>
            <a:endParaRPr lang="en-US" sz="1450" dirty="0"/>
          </a:p>
          <a:p>
            <a:pPr marL="342900" indent="-342900">
              <a:buSzPct val="100000"/>
              <a:buChar char="▪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Scooboo, Odd Giraffe, Hindustan Stationery (dedicated stationery)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Description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2801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00200" y="1645920"/>
          <a:ext cx="96926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55778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i3 or Higher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GB Minimum (8 GB Recommended)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GB Free Disk 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1366 x 768 Resolution or Higher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Connection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1600200" y="34290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</a:t>
            </a:r>
            <a:endParaRPr lang="en-US" sz="16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00200" y="3794760"/>
          <a:ext cx="96926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55778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/ 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 + Vite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 + Mongoose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bcryptjs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&amp; Password Encryption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Nodemailer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Postman / Git &amp;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Testing &amp; Version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and Development</a:t>
            </a:r>
            <a:endParaRPr lang="en-US" sz="3200" dirty="0"/>
          </a:p>
        </p:txBody>
      </p:sp>
      <p:pic>
        <p:nvPicPr>
          <p:cNvPr id="6" name="Image 0" descr="/home/claude/imgs/img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0331" y="1371600"/>
            <a:ext cx="2960379" cy="4937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6355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19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5.1: Customer Flowchart of StudyStore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and Development</a:t>
            </a:r>
            <a:endParaRPr lang="en-US" sz="3200" dirty="0"/>
          </a:p>
        </p:txBody>
      </p:sp>
      <p:pic>
        <p:nvPicPr>
          <p:cNvPr id="6" name="Image 0" descr="/home/claude/imgs/img-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1585" y="1371600"/>
            <a:ext cx="1457709" cy="4937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6355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19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5.2: Administrator Flowchart of StudyStore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and Development</a:t>
            </a:r>
            <a:endParaRPr lang="en-US" sz="3200" dirty="0"/>
          </a:p>
        </p:txBody>
      </p:sp>
      <p:pic>
        <p:nvPicPr>
          <p:cNvPr id="6" name="Image 0" descr="/home/claude/fig_context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13332"/>
            <a:ext cx="8961120" cy="42885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6355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19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5.3: Context Diagram of StudyStore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and Development</a:t>
            </a:r>
            <a:endParaRPr lang="en-US" sz="3200" dirty="0"/>
          </a:p>
        </p:txBody>
      </p:sp>
      <p:pic>
        <p:nvPicPr>
          <p:cNvPr id="6" name="Image 0" descr="/home/claude/fig_level1d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4340" y="1371600"/>
            <a:ext cx="5115560" cy="4846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6355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19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5.4: Level 1 Data Flow Diagram of StudyStore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and Development</a:t>
            </a:r>
            <a:endParaRPr lang="en-US" sz="3200" dirty="0"/>
          </a:p>
        </p:txBody>
      </p:sp>
      <p:pic>
        <p:nvPicPr>
          <p:cNvPr id="6" name="Image 0" descr="/home/claude/imgs/img-0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286" y="1371600"/>
            <a:ext cx="4292227" cy="4937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6355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19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5.5: Class Diagram of StudyStore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and Development</a:t>
            </a:r>
            <a:endParaRPr lang="en-US" sz="3200" dirty="0"/>
          </a:p>
        </p:txBody>
      </p:sp>
      <p:pic>
        <p:nvPicPr>
          <p:cNvPr id="6" name="Image 0" descr="/home/claude/fig_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0702" y="1371600"/>
            <a:ext cx="4859795" cy="4937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6355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19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5.6: Use Case Diagram of StudyStore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and Development</a:t>
            </a:r>
            <a:endParaRPr lang="en-US" sz="3200" dirty="0"/>
          </a:p>
        </p:txBody>
      </p:sp>
      <p:pic>
        <p:nvPicPr>
          <p:cNvPr id="6" name="Image 0" descr="/home/claude/imgs/img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2062" y="1371600"/>
            <a:ext cx="3954195" cy="4937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6355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19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5.7: Sequence Diagram of StudyStore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and Development</a:t>
            </a:r>
            <a:endParaRPr lang="en-US" sz="3200" dirty="0"/>
          </a:p>
        </p:txBody>
      </p:sp>
      <p:pic>
        <p:nvPicPr>
          <p:cNvPr id="6" name="Image 0" descr="/home/claude/imgs/img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3495" y="1371600"/>
            <a:ext cx="1245249" cy="4937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6355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19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5.8: Customer Activity Diagram of StudyStore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and Development</a:t>
            </a:r>
            <a:endParaRPr lang="en-US" sz="3200" dirty="0"/>
          </a:p>
        </p:txBody>
      </p:sp>
      <p:pic>
        <p:nvPicPr>
          <p:cNvPr id="6" name="Image 0" descr="/home/claude/imgs/img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6148" y="1371600"/>
            <a:ext cx="3405865" cy="4937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6355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19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5.9: Administrator Activity Diagram of StudyStore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25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Collection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00200" y="1783080"/>
          <a:ext cx="9692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55778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 of the 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name of the 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email address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password using bcryptjs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address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role (User/Admin)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creation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25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Collection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00200" y="1783080"/>
          <a:ext cx="9692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5577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wishlist identifier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to the 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to the 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when the product was added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25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Collection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00200" y="1783080"/>
          <a:ext cx="9692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55778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product identifier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image path or URL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product quantity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creation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25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Collection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00200" y="1783080"/>
          <a:ext cx="9692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5577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cart identifier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to the 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to the 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selected by the 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price of the selected quantity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when the product was added to the cart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25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Collection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00200" y="1783080"/>
          <a:ext cx="9692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55778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order identifier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to the 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ordered products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totalAmount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amount of the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shippingAddress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address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 (Cash on Delivery)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order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order placement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25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Relationships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00200" y="1783080"/>
          <a:ext cx="96926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286000"/>
                <a:gridCol w="49377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Collection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Collection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user can save multiple wishlist items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user can have multiple cart items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user can place multiple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product can appear in multiple wishlists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product can appear in multiple shopping carts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product can be included in multiple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</a:t>
            </a:r>
            <a:endParaRPr lang="en-US" sz="1600" dirty="0"/>
          </a:p>
        </p:txBody>
      </p:sp>
      <p:pic>
        <p:nvPicPr>
          <p:cNvPr id="7" name="Image 0" descr="/home/claude/imgs/img-0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769960"/>
            <a:ext cx="8778240" cy="414103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Screen</a:t>
            </a:r>
            <a:endParaRPr lang="en-US" sz="1600" dirty="0"/>
          </a:p>
        </p:txBody>
      </p:sp>
      <p:pic>
        <p:nvPicPr>
          <p:cNvPr id="7" name="Image 0" descr="/home/claude/imgs/img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1955" y="1508760"/>
            <a:ext cx="651473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1600" dirty="0"/>
          </a:p>
        </p:txBody>
      </p:sp>
      <p:pic>
        <p:nvPicPr>
          <p:cNvPr id="7" name="Image 0" descr="/home/claude/imgs/img-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579" y="1508760"/>
            <a:ext cx="8337483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 Screen</a:t>
            </a:r>
            <a:endParaRPr lang="en-US" sz="1600" dirty="0"/>
          </a:p>
        </p:txBody>
      </p:sp>
      <p:pic>
        <p:nvPicPr>
          <p:cNvPr id="7" name="Image 0" descr="/home/claude/imgs/img-0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32386"/>
            <a:ext cx="8778240" cy="40161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 Screen</a:t>
            </a:r>
            <a:endParaRPr lang="en-US" sz="1600" dirty="0"/>
          </a:p>
        </p:txBody>
      </p:sp>
      <p:pic>
        <p:nvPicPr>
          <p:cNvPr id="7" name="Image 0" descr="/home/claude/imgs/img-0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998" y="1508760"/>
            <a:ext cx="8440643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Screen</a:t>
            </a:r>
            <a:endParaRPr lang="en-US" sz="1600" dirty="0"/>
          </a:p>
        </p:txBody>
      </p:sp>
      <p:pic>
        <p:nvPicPr>
          <p:cNvPr id="7" name="Image 0" descr="/home/claude/imgs/img-0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6798" y="1508760"/>
            <a:ext cx="674504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Screen</a:t>
            </a:r>
            <a:endParaRPr lang="en-US" sz="1600" dirty="0"/>
          </a:p>
        </p:txBody>
      </p:sp>
      <p:pic>
        <p:nvPicPr>
          <p:cNvPr id="7" name="Image 0" descr="/home/claude/imgs/img-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40810"/>
            <a:ext cx="8778240" cy="459933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Screen</a:t>
            </a:r>
            <a:endParaRPr lang="en-US" sz="1600" dirty="0"/>
          </a:p>
        </p:txBody>
      </p:sp>
      <p:pic>
        <p:nvPicPr>
          <p:cNvPr id="7" name="Image 0" descr="/home/claude/imgs/img-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50915"/>
            <a:ext cx="8778240" cy="397913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Orders Screen</a:t>
            </a:r>
            <a:endParaRPr lang="en-US" sz="1600" dirty="0"/>
          </a:p>
        </p:txBody>
      </p:sp>
      <p:pic>
        <p:nvPicPr>
          <p:cNvPr id="7" name="Image 0" descr="/home/claude/imgs/img-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8456" y="1508760"/>
            <a:ext cx="8301727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Screen</a:t>
            </a:r>
            <a:endParaRPr lang="en-US" sz="1600" dirty="0"/>
          </a:p>
        </p:txBody>
      </p:sp>
      <p:pic>
        <p:nvPicPr>
          <p:cNvPr id="7" name="Image 0" descr="/home/claude/imgs/img-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0051" y="1508760"/>
            <a:ext cx="595853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Screen</a:t>
            </a:r>
            <a:endParaRPr lang="en-US" sz="1600" dirty="0"/>
          </a:p>
        </p:txBody>
      </p:sp>
      <p:pic>
        <p:nvPicPr>
          <p:cNvPr id="7" name="Image 0" descr="/home/claude/imgs/img-0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95105"/>
            <a:ext cx="8778240" cy="449074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Screen</a:t>
            </a:r>
            <a:endParaRPr lang="en-US" sz="1600" dirty="0"/>
          </a:p>
        </p:txBody>
      </p:sp>
      <p:pic>
        <p:nvPicPr>
          <p:cNvPr id="7" name="Image 0" descr="/home/claude/imgs/img-0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39041"/>
            <a:ext cx="8778240" cy="400287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Screen</a:t>
            </a:r>
            <a:endParaRPr lang="en-US" sz="1600" dirty="0"/>
          </a:p>
        </p:txBody>
      </p:sp>
      <p:pic>
        <p:nvPicPr>
          <p:cNvPr id="7" name="Image 0" descr="/home/claude/imgs/img-0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687921"/>
            <a:ext cx="8778240" cy="430511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 Screen</a:t>
            </a:r>
            <a:endParaRPr lang="en-US" sz="1600" dirty="0"/>
          </a:p>
        </p:txBody>
      </p:sp>
      <p:pic>
        <p:nvPicPr>
          <p:cNvPr id="7" name="Image 0" descr="/home/claude/imgs/img-0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2286" y="1508760"/>
            <a:ext cx="6714069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Management Screen</a:t>
            </a:r>
            <a:endParaRPr lang="en-US" sz="1600" dirty="0"/>
          </a:p>
        </p:txBody>
      </p:sp>
      <p:pic>
        <p:nvPicPr>
          <p:cNvPr id="7" name="Image 0" descr="/home/claude/imgs/img-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4441" y="1508760"/>
            <a:ext cx="7389759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Screen</a:t>
            </a:r>
            <a:endParaRPr lang="en-US" sz="1600" dirty="0"/>
          </a:p>
        </p:txBody>
      </p:sp>
      <p:pic>
        <p:nvPicPr>
          <p:cNvPr id="7" name="Image 0" descr="/home/claude/imgs/img-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784" y="1508760"/>
            <a:ext cx="7769071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051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UPI Payment Screen</a:t>
            </a:r>
            <a:endParaRPr lang="en-US" sz="1600" dirty="0"/>
          </a:p>
        </p:txBody>
      </p:sp>
      <p:pic>
        <p:nvPicPr>
          <p:cNvPr id="7" name="Image 0" descr="/home/claude/imgs/img-0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9944" y="1508760"/>
            <a:ext cx="759875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258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Registration &amp; Login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691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create a new account with their details.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protects user sessions; passwords are hashed with bcryptjs.</a:t>
            </a:r>
            <a:endParaRPr lang="en-US" sz="1350" dirty="0"/>
          </a:p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manage their profile information.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9718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Product Browsing, Search &amp; Wishlist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33756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browse products with category filters and keyword search.</a:t>
            </a:r>
            <a:endParaRPr lang="en-US" sz="1350" dirty="0"/>
          </a:p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can be saved to a personal wishlist for future purchase.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4348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Shopping Cart &amp; Checkout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48006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can be added to the cart, with quantities updated before checkout.</a:t>
            </a:r>
            <a:endParaRPr lang="en-US" sz="1350" dirty="0"/>
          </a:p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supports Cash on Delivery and secure UPI payments via Razorpay.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258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Order Placement &amp; Tracking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691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created from the shopping cart and stored in MongoDB Atlas.</a:t>
            </a:r>
            <a:endParaRPr lang="en-US" sz="1350" dirty="0"/>
          </a:p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view order history and track current order status.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7889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Admin Dashboard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15468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can add, edit, or delete products and manage stock.</a:t>
            </a:r>
            <a:endParaRPr lang="en-US" sz="1350" dirty="0"/>
          </a:p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can be updated, and discount coupons can be created and managed.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519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Password Recovery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46177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reset a forgotten password through an email link sent using Nodemailer.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25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(TC-01 to TC-05)</a:t>
            </a:r>
            <a:endParaRPr lang="en-US" sz="1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00200" y="1783080"/>
          <a:ext cx="9692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2743200"/>
                <a:gridCol w="310896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with valid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created successfully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valid credentials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logged in successfully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Password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registered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link sent to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product by keyword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products displayed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product to wishlist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added to wishlist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25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(TC-06 to TC-10)</a:t>
            </a:r>
            <a:endParaRPr lang="en-US" sz="1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00200" y="1783080"/>
          <a:ext cx="9692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2743200"/>
                <a:gridCol w="310896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 Cart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product to cart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added to cart successfully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 order from cart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placed and stored successfully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previously placed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history displayed correctly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adds/edits/deletes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updated successfully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updates order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status displayed correctly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17320"/>
            <a:ext cx="9692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 complete online stationery shopping application using the MERN Stack.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customer features: registration, login, product browsing, wishlist, cart, and order placement.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 administrator dashboard for efficient product and order management.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JWT authentication, bcryptjs password encryption, and Nodemailer for account management.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structured MongoDB Atlas database for efficient data storage and retrieval.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RESTful APIs enabling smooth communication between frontend and backend.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software engineering practices including system design, UML diagrams, and testing.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During Project Work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17320"/>
            <a:ext cx="9692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practical experience developing a full-stack web application using the MERN Stack.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design responsive user interfaces using React.js and Vite.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backend development skills using Node.js and Express.js.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hands-on experience with MongoDB Atlas for cloud database management.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JWT-based authentication, password encryption, and email-based password recovery.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knowledge of Git and GitHub for version control and collaboration.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understanding of UML diagrams, database design, and software testing.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17320"/>
            <a:ext cx="9692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additional online payment gateways such as Stripe.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inventory and stock management with low-stock notifications.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ratings and customer reviews.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order cancellation and return request features.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order tracking and email notifications.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mobile application using React Native.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AI-based product recommendations based on user preferences.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sales reports and analytics for administrators.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application security with Two-Factor Authentication (2FA).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834640"/>
            <a:ext cx="4754880" cy="47548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234440" y="-1234440"/>
            <a:ext cx="2651760" cy="2651760"/>
          </a:xfrm>
          <a:prstGeom prst="ellipse">
            <a:avLst/>
          </a:prstGeom>
          <a:ln w="3048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3246120"/>
            <a:ext cx="347472" cy="347472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25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References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737360"/>
            <a:ext cx="9418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– React Documentation, react.dev (2026)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– Node.js Documentation, nodejs.org (2026)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– Express.js Documentation, expressjs.com (2026)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– MongoDB Documentation, mongodb.com/docs (2026)</a:t>
            </a:r>
            <a:endParaRPr lang="en-US" sz="1350" dirty="0"/>
          </a:p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Docs, developer.mozilla.org (2026)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886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References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429768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Sommerville, Software Engineering, 10th ed., Pearson Education, 2016.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Banks and E. Porcello, Learning React, 2nd ed., O'Reilly Media, 2020.</a:t>
            </a:r>
            <a:endParaRPr lang="en-US" sz="1350" dirty="0"/>
          </a:p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Silberschatz et al., Database System Concepts, 7th ed., McGraw-Hill, 2019.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377440"/>
            <a:ext cx="5669280" cy="566928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ln w="381000">
            <a:solidFill>
              <a:srgbClr val="FFC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5394960"/>
            <a:ext cx="1371600" cy="1371600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3246120"/>
            <a:ext cx="384048" cy="384048"/>
          </a:xfrm>
          <a:prstGeom prst="ellipse">
            <a:avLst/>
          </a:prstGeom>
          <a:solidFill>
            <a:srgbClr val="919191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2788920"/>
            <a:ext cx="1737360" cy="137160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0" y="27889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880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6576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19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Kashyap Bharad - 92500584001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19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Dhaval Parmar - 92500584066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19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Chirag Pandya - 92500584070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2026-08-27T08:12:16Z</dcterms:created>
  <dcterms:modified xsi:type="dcterms:W3CDTF">2026-08-27T08:12:16Z</dcterms:modified>
</cp:coreProperties>
</file>